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522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Goodreads sorts reviews by engagement, so popular reviews get more visibility, which snowballs into even more likes/comments. Reviewers with strong presence also get free advance copies of books. So there's a real incentive to understand what makes a review popular. That's what this project predicts and explains.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"Popular" here = a review's likes+comments relative to other reviews on the same book, thresholded at ~21% prevalence. We're the first to study this for book reviews specifically — prior popularity research was on product reviews, which motivate purchases, not readership, so the drivers could be totally different. Our core question: do semantic embeddings plus simple reviewer/text metadata beat either alone?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Split by book_id, not randomly by review, so the same book never leaks across train/val/test. Training set was undersampled to 50/50 popular/unpopular — real-world rate is ~79/21 — so the model can actually learn the minority class. Validation and test stay at the natural imbalanced rate so our reported metrics are honest, not inflated by an artificial balance.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representations, deliberately layered: TF-IDF is the classical sparse baseline (literal word counts, 5,000 terms). MiniLM embeddings alone swap that for dense 384-d semantic vectors — meaning, not word identity. The third row adds engineered reviewer/text metadata on top of embeddings, to answer: does metadata still help once you already have semantics? Two model families (LogReg, XGBoost) per representation where relevant.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bottom row first — that's the winner: XGBoost on engineered + MiniLM, ROC-AUC 0.733, best on every metric. Notice TF-IDF alone (0.694) almost matches MiniLM alone (0.651-0.655) — simple word frequency is a surprisingly strong baseline at this scale. The real gain comes from combining semantics with metadata, not from embeddings replacing TF-IDF outright.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Embeddings dominate as a block, which makes sense — 384 dimensions vs. 11 engineered features. Among the engineered features, review length and reviewer activity (user_reviews) are the strongest single signals, meaning longer reviews from experienced reviewers do better. The surprising finding: lower star ratings have a mild positive link to popularity — critical reviews may stand out and draw more engagement than another positive review blending into the crowd.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Daly (Stanford, 2021) is the closest prior work — same dataset family, same popularity definition, so this is a fair apples-to-apples comparison. Her best result used sparse Bag-of-Words/TF-IDF; we swap that for dense MiniLM embeddings and beat her best ROC-AUC (0.733 vs 0.70) with a much smaller feature space. Two findings replicate independently across both studies: reviewer activity dominates engineered signal, and critical reviews get a popularity boost. What's new here: the smaller semantic representation, and a live demo instead of just a static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 line: combining semantic embeddings with simple metadata, scored with XGBoost, gives real but moderate predictive power. ROC-AUC 0.73 means popularity depends on more than text and basic metadata — likely reviewer follower counts, which neither this dataset nor Daly's had access to. Transition to demo: paste in a review live, show the predicted probability and SHAP breakdown updating in real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566400" cy="447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C2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564640"/>
            <a:ext cx="10566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8092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kern="0" spc="100" dirty="0">
                <a:solidFill>
                  <a:srgbClr val="D9644F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FINAL PROJECT REVIEW</a:t>
            </a:r>
            <a:endParaRPr lang="en-US" sz="14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682240"/>
            <a:ext cx="9156700" cy="119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620"/>
              </a:lnSpc>
              <a:buNone/>
            </a:pPr>
            <a:r>
              <a:rPr lang="en-US" sz="4200" b="0" i="0" dirty="0">
                <a:solidFill>
                  <a:srgbClr val="F7F5F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Predicting Goodreads Review Popularity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12800" y="4008120"/>
            <a:ext cx="784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B9C0C8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Combining text embeddings and reviewer features to explain what makes a review popular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800" y="6238240"/>
            <a:ext cx="238906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4A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Team Project  ·  Course Name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64640"/>
            <a:ext cx="9810750" cy="673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book reviews get far more reader engagement than others. Can we predict which reviews will be </a:t>
            </a:r>
            <a:r>
              <a:rPr lang="en-US" sz="17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</a:t>
            </a:r>
            <a:r>
              <a:rPr lang="en-US" sz="17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and understand </a:t>
            </a:r>
            <a:r>
              <a:rPr lang="en-US" sz="1700" i="1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r>
              <a:rPr lang="en-US" sz="17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using the review's text and the reviewer's activity history?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815975" y="2520315"/>
            <a:ext cx="517525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1880" y="277622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3C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1880" y="2989580"/>
            <a:ext cx="480334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Surfacing high-engagement reviews earlier helps readers, authors, and the platform.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00775" y="2520315"/>
            <a:ext cx="5175250" cy="1144270"/>
          </a:xfrm>
          <a:prstGeom prst="roundRect">
            <a:avLst>
              <a:gd name="adj" fmla="val 8602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6680" y="2776220"/>
            <a:ext cx="4803343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3C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question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56680" y="2989580"/>
            <a:ext cx="480334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semantic embeddings plus simple engineered features beat either alone?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12800" y="6238241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8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Dataset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800" y="1513841"/>
            <a:ext cx="3420507" cy="1201420"/>
          </a:xfrm>
          <a:prstGeom prst="roundRect">
            <a:avLst>
              <a:gd name="adj" fmla="val 8457"/>
            </a:avLst>
          </a:prstGeom>
          <a:solidFill>
            <a:srgbClr val="16202B"/>
          </a:solidFill>
          <a:ln/>
        </p:spPr>
      </p:sp>
      <p:sp>
        <p:nvSpPr>
          <p:cNvPr id="4" name="Text 2"/>
          <p:cNvSpPr/>
          <p:nvPr/>
        </p:nvSpPr>
        <p:spPr>
          <a:xfrm>
            <a:off x="1041400" y="1742441"/>
            <a:ext cx="30522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041400" y="2291080"/>
            <a:ext cx="30522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B9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Goodreads reviews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385707" y="1513841"/>
            <a:ext cx="3420586" cy="1201420"/>
          </a:xfrm>
          <a:prstGeom prst="roundRect">
            <a:avLst>
              <a:gd name="adj" fmla="val 8457"/>
            </a:avLst>
          </a:prstGeom>
          <a:solidFill>
            <a:srgbClr val="16202B"/>
          </a:solidFill>
          <a:ln/>
        </p:spPr>
      </p:sp>
      <p:sp>
        <p:nvSpPr>
          <p:cNvPr id="7" name="Text 5"/>
          <p:cNvSpPr/>
          <p:nvPr/>
        </p:nvSpPr>
        <p:spPr>
          <a:xfrm>
            <a:off x="4614307" y="1742441"/>
            <a:ext cx="3052288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54,434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614307" y="2291080"/>
            <a:ext cx="3052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B9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reviews (balanced)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8693" y="1513841"/>
            <a:ext cx="3420507" cy="1201420"/>
          </a:xfrm>
          <a:prstGeom prst="roundRect">
            <a:avLst>
              <a:gd name="adj" fmla="val 8457"/>
            </a:avLst>
          </a:prstGeom>
          <a:solidFill>
            <a:srgbClr val="16202B"/>
          </a:solidFill>
          <a:ln/>
        </p:spPr>
      </p:sp>
      <p:sp>
        <p:nvSpPr>
          <p:cNvPr id="10" name="Text 8"/>
          <p:cNvSpPr/>
          <p:nvPr/>
        </p:nvSpPr>
        <p:spPr>
          <a:xfrm>
            <a:off x="8187293" y="1742441"/>
            <a:ext cx="3052206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28,414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87293" y="2291080"/>
            <a:ext cx="3052206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B9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Held-out test reviews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5975" y="2972436"/>
            <a:ext cx="5175250" cy="1035050"/>
          </a:xfrm>
          <a:prstGeom prst="roundRect">
            <a:avLst>
              <a:gd name="adj" fmla="val 9509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1080" y="3177541"/>
            <a:ext cx="490799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3C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Non-text features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21080" y="3375661"/>
            <a:ext cx="490799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Reviewer's review count · days since posted · star rating · rating vs. book average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00775" y="2972436"/>
            <a:ext cx="5175250" cy="1035050"/>
          </a:xfrm>
          <a:prstGeom prst="roundRect">
            <a:avLst>
              <a:gd name="adj" fmla="val 9509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5880" y="3177541"/>
            <a:ext cx="490799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3C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Text-stat features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5880" y="3375661"/>
            <a:ext cx="49079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count · sentence/word length · quotes · punctuation counts · sentiment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12800" y="4264661"/>
            <a:ext cx="10883392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70 / 15 / 15, grouped by book_id to prevent leakage across splits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41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8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513841"/>
            <a:ext cx="981075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feature representations, two model families — to isolate what text understanding adds over simple metadata.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09140"/>
          <a:ext cx="10556241" cy="180848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2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 set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 tried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 (5,000 terms)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2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Classical text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 embeddings (384-d)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LogReg, XGBoost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4A52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text baseline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1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Engineered features + MiniLM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LogReg, XGBoost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D964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Does metadata add signal?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071620"/>
            <a:ext cx="10883392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 explained with SHAP (TreeExplainer); embeddings grouped into one block for interpretability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12800" y="6238239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8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Results</a:t>
            </a:r>
            <a:endParaRPr lang="en-US" sz="3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473199"/>
          <a:ext cx="10556238" cy="2301240"/>
        </p:xfrm>
        <a:graphic>
          <a:graphicData uri="http://schemas.openxmlformats.org/drawingml/2006/table">
            <a:tbl>
              <a:tblPr/>
              <a:tblGrid>
                <a:gridCol w="17593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93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93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93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93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593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PR-AUC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TF-IDF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 embeddings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 embeddings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Engineered + 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LogReg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0.687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0.351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Engineered + MiniLM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D964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D964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D964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D964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812800" y="3977639"/>
            <a:ext cx="108833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Combined features + XGBoost wins on every metric. TF-IDF alone stays competitive with embeddings alone — simple word frequency holds its own at this scale.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812800" y="6238239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3EEF7C-6168-660C-FDE9-3A2049C8A1AB}"/>
              </a:ext>
            </a:extLst>
          </p:cNvPr>
          <p:cNvSpPr txBox="1"/>
          <p:nvPr/>
        </p:nvSpPr>
        <p:spPr>
          <a:xfrm>
            <a:off x="286260" y="574750"/>
            <a:ext cx="6094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Prediction results :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50C0ABD-E144-DC06-DD91-FB266C516E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0934" y="1760485"/>
            <a:ext cx="5811066" cy="428566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54FE1CE-2C6E-E3E1-45FD-05838A863F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25" y="1688995"/>
            <a:ext cx="6200099" cy="4428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348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What drives the prediction?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884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|SHAP value| on the test set, best model (XGBoost, Engineered + MiniLM)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1946911"/>
            <a:ext cx="20929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MiniLM embeddings (sum)</a:t>
            </a:r>
            <a:endParaRPr lang="en-US" sz="1100" dirty="0"/>
          </a:p>
        </p:txBody>
      </p:sp>
      <p:pic>
        <p:nvPicPr>
          <p:cNvPr id="5" name="Image 0" descr="rec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946400" y="1930400"/>
            <a:ext cx="6350000" cy="228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98000" y="1955800"/>
            <a:ext cx="2980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812800" y="2264411"/>
            <a:ext cx="20929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num_words</a:t>
            </a:r>
            <a:endParaRPr lang="en-US" sz="1100" dirty="0"/>
          </a:p>
        </p:txBody>
      </p:sp>
      <p:pic>
        <p:nvPicPr>
          <p:cNvPr id="8" name="Image 1" descr="rect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46400" y="2247900"/>
            <a:ext cx="7239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771900" y="2273300"/>
            <a:ext cx="2980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0.33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12800" y="2581911"/>
            <a:ext cx="20929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user_reviews</a:t>
            </a:r>
            <a:endParaRPr lang="en-US" sz="1100" dirty="0"/>
          </a:p>
        </p:txBody>
      </p:sp>
      <p:pic>
        <p:nvPicPr>
          <p:cNvPr id="11" name="Image 2" descr="rect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46400" y="2565400"/>
            <a:ext cx="6731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21100" y="2590800"/>
            <a:ext cx="2980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0.31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812800" y="2899411"/>
            <a:ext cx="20929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rating_diff</a:t>
            </a:r>
            <a:endParaRPr lang="en-US" sz="1100" dirty="0"/>
          </a:p>
        </p:txBody>
      </p:sp>
      <p:pic>
        <p:nvPicPr>
          <p:cNvPr id="14" name="Image 3" descr="rect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46400" y="2882900"/>
            <a:ext cx="533400" cy="2286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581400" y="2908300"/>
            <a:ext cx="2980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</a:t>
            </a: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812800" y="3216911"/>
            <a:ext cx="209296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7 features combined</a:t>
            </a:r>
            <a:endParaRPr lang="en-US" sz="1100" dirty="0"/>
          </a:p>
        </p:txBody>
      </p:sp>
      <p:pic>
        <p:nvPicPr>
          <p:cNvPr id="17" name="Image 4" descr="rect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946400" y="3200400"/>
            <a:ext cx="5588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606800" y="3225800"/>
            <a:ext cx="29805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0.27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812800" y="3657600"/>
            <a:ext cx="5337048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dominate overall, but </a:t>
            </a:r>
            <a:r>
              <a:rPr lang="en-US" sz="1050" b="1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length</a:t>
            </a:r>
            <a:r>
              <a:rPr lang="en-US" sz="105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050" b="1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activity</a:t>
            </a:r>
            <a:r>
              <a:rPr lang="en-US" sz="105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the strongest single engineered signals.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6197600" y="3657600"/>
            <a:ext cx="5337048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Surprise:</a:t>
            </a:r>
            <a:r>
              <a:rPr lang="en-US" sz="105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lower star ratings show a mild positive link to popularity — critical reviews may draw more engagement.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812800" y="6238239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8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1C243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How this compares to prior 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1463039"/>
            <a:ext cx="981075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Daly (Stanford, 2021), </a:t>
            </a:r>
            <a:r>
              <a:rPr lang="en-US" sz="1200" i="1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"Text-Based Prediction of Book Review Popularity"</a:t>
            </a:r>
            <a:r>
              <a:rPr lang="en-US" sz="12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same Goodreads dataset family, same popularity definition (~21% prevalence), same core reviewer/text features.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103121"/>
          <a:ext cx="10556241" cy="2301240"/>
        </p:xfrm>
        <a:graphic>
          <a:graphicData uri="http://schemas.openxmlformats.org/drawingml/2006/table">
            <a:tbl>
              <a:tblPr/>
              <a:tblGrid>
                <a:gridCol w="35187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87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Daly (2021)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b="1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This project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 representation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Bag-of-Words / TF-IDF (10,000+ sparse dims)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MiniLM sentence embeddings (384 dense dims)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61D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the text features capture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Word identity and frequency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Semantic meaning of the review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Models tried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Regression, XGBoost, Neural Net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Regression, XGBoost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Best ROC-AUC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D964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3540"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7C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Tree-split counts and SHAP, static plots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540"/>
                        </a:lnSpc>
                        <a:buNone/>
                      </a:pPr>
                      <a:r>
                        <a:rPr lang="en-US" sz="1100" dirty="0">
                          <a:solidFill>
                            <a:srgbClr val="1C24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SHAP, plus a live interactive demo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2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4610736"/>
            <a:ext cx="5175250" cy="974090"/>
          </a:xfrm>
          <a:prstGeom prst="roundRect">
            <a:avLst>
              <a:gd name="adj" fmla="val 10104"/>
            </a:avLst>
          </a:prstGeom>
          <a:solidFill>
            <a:srgbClr val="FFFFFF"/>
          </a:solidFill>
          <a:ln w="6350">
            <a:solidFill>
              <a:srgbClr val="E3DE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21080" y="4815839"/>
            <a:ext cx="4907991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C6E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carries over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21080" y="4998721"/>
            <a:ext cx="490799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activity (user_reviews) dominates engineered signal in both studies, and critical/negative reviews show the same mild positive link to popularity.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200775" y="4610736"/>
            <a:ext cx="5175250" cy="974090"/>
          </a:xfrm>
          <a:prstGeom prst="roundRect">
            <a:avLst>
              <a:gd name="adj" fmla="val 10104"/>
            </a:avLst>
          </a:prstGeom>
          <a:solidFill>
            <a:srgbClr val="FFF3EE"/>
          </a:solidFill>
          <a:ln w="6350">
            <a:solidFill>
              <a:srgbClr val="F0D8C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5880" y="4815839"/>
            <a:ext cx="4907991" cy="20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 here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5880" y="4998721"/>
            <a:ext cx="490799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4A52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Swapping sparse word counts for dense semantic embeddings improves ROC-AUC with a far smaller feature space — and the model is shown live, not just reported.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2800" y="6238239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92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2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812800"/>
            <a:ext cx="10883392" cy="472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0" i="0" dirty="0">
                <a:solidFill>
                  <a:srgbClr val="F7F5F0"/>
                </a:solidFill>
                <a:latin typeface="Georgia" pitchFamily="18" charset="0"/>
                <a:ea typeface="Georgia" pitchFamily="18" charset="-122"/>
                <a:cs typeface="Georgia" pitchFamily="18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5975" y="1517014"/>
            <a:ext cx="3397250" cy="1179830"/>
          </a:xfrm>
          <a:prstGeom prst="roundRect">
            <a:avLst>
              <a:gd name="adj" fmla="val 8342"/>
            </a:avLst>
          </a:prstGeom>
          <a:solidFill>
            <a:srgbClr val="1F2B38"/>
          </a:solidFill>
          <a:ln w="6350">
            <a:solidFill>
              <a:srgbClr val="2D3B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21080" y="1722121"/>
            <a:ext cx="307665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Combining signals wins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21080" y="1920239"/>
            <a:ext cx="3076651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B9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Embeddings + engineered metadata, scored with XGBoost, beat every single-feature-set baseline — and the prior paper's own best result.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397375" y="1517014"/>
            <a:ext cx="3397250" cy="1179830"/>
          </a:xfrm>
          <a:prstGeom prst="roundRect">
            <a:avLst>
              <a:gd name="adj" fmla="val 8342"/>
            </a:avLst>
          </a:prstGeom>
          <a:solidFill>
            <a:srgbClr val="1F2B38"/>
          </a:solidFill>
          <a:ln w="6350">
            <a:solidFill>
              <a:srgbClr val="2D3B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02480" y="1722121"/>
            <a:ext cx="307665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Moderate, honest signal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602480" y="1920239"/>
            <a:ext cx="3076651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B9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0.73 — real predictive power, but popularity clearly depends on more than text and basic metadata.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978775" y="1517014"/>
            <a:ext cx="3397250" cy="1179830"/>
          </a:xfrm>
          <a:prstGeom prst="roundRect">
            <a:avLst>
              <a:gd name="adj" fmla="val 8342"/>
            </a:avLst>
          </a:prstGeom>
          <a:solidFill>
            <a:srgbClr val="1F2B38"/>
          </a:solidFill>
          <a:ln w="6350">
            <a:solidFill>
              <a:srgbClr val="2D3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83880" y="1722121"/>
            <a:ext cx="3076651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D964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&amp; interactive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83880" y="1920239"/>
            <a:ext cx="307665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B9C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grounds the model's behavior; a live Streamlit demo makes it tangible.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12800" y="2954021"/>
            <a:ext cx="10566400" cy="2887980"/>
          </a:xfrm>
          <a:prstGeom prst="roundRect">
            <a:avLst>
              <a:gd name="adj" fmla="val 3518"/>
            </a:avLst>
          </a:prstGeom>
          <a:solidFill>
            <a:srgbClr val="FFF3EE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6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→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42"/>
            <a:ext cx="3558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B94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odreads Review Popularity — Project Review">
  <a:themeElements>
    <a:clrScheme name="Goodreads Review Popularity — Project Review">
      <a:dk1>
        <a:srgbClr val="1C2430"/>
      </a:dk1>
      <a:lt1>
        <a:srgbClr val="FAF7F1"/>
      </a:lt1>
      <a:dk2>
        <a:srgbClr val="545960"/>
      </a:dk2>
      <a:lt2>
        <a:srgbClr val="E4E2DE"/>
      </a:lt2>
      <a:accent1>
        <a:srgbClr val="D9644F"/>
      </a:accent1>
      <a:accent2>
        <a:srgbClr val="3C6E71"/>
      </a:accent2>
      <a:accent3>
        <a:srgbClr val="4A5260"/>
      </a:accent3>
      <a:accent4>
        <a:srgbClr val="9A9284"/>
      </a:accent4>
      <a:accent5>
        <a:srgbClr val="B9C0C8"/>
      </a:accent5>
      <a:accent6>
        <a:srgbClr val="8B94A0"/>
      </a:accent6>
      <a:hlink>
        <a:srgbClr val="0563C1"/>
      </a:hlink>
      <a:folHlink>
        <a:srgbClr val="954F72"/>
      </a:folHlink>
    </a:clrScheme>
    <a:fontScheme name="Goodreads Review Popularity — Project Re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1262</Words>
  <Application>Microsoft Office PowerPoint</Application>
  <PresentationFormat>Widescreen</PresentationFormat>
  <Paragraphs>145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Georgia</vt:lpstr>
      <vt:lpstr>Goodreads Review Popularity — Project Review</vt:lpstr>
      <vt:lpstr>Predicting Goodreads Review Popularity</vt:lpstr>
      <vt:lpstr>Problem statement</vt:lpstr>
      <vt:lpstr>Dataset</vt:lpstr>
      <vt:lpstr>Approach</vt:lpstr>
      <vt:lpstr>Results</vt:lpstr>
      <vt:lpstr>PowerPoint Presentation</vt:lpstr>
      <vt:lpstr>What drives the prediction?</vt:lpstr>
      <vt:lpstr>How this compares to prior work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Goodreads Review Popularity — Project Review</dc:title>
  <dc:subject/>
  <dc:creator/>
  <cp:lastModifiedBy>diran somanna</cp:lastModifiedBy>
  <cp:revision>2</cp:revision>
  <dcterms:created xsi:type="dcterms:W3CDTF">2026-10-12T06:18:08Z</dcterms:created>
  <dcterms:modified xsi:type="dcterms:W3CDTF">2026-10-12T06:43:43Z</dcterms:modified>
</cp:coreProperties>
</file>